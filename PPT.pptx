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86" r:id="rId4"/>
    <p:sldId id="287" r:id="rId5"/>
    <p:sldId id="312" r:id="rId7"/>
    <p:sldId id="289" r:id="rId8"/>
    <p:sldId id="313" r:id="rId9"/>
    <p:sldId id="294" r:id="rId10"/>
    <p:sldId id="319" r:id="rId11"/>
    <p:sldId id="322" r:id="rId12"/>
    <p:sldId id="290" r:id="rId13"/>
    <p:sldId id="320" r:id="rId14"/>
    <p:sldId id="323" r:id="rId15"/>
    <p:sldId id="324" r:id="rId16"/>
    <p:sldId id="314" r:id="rId17"/>
    <p:sldId id="301" r:id="rId18"/>
    <p:sldId id="327" r:id="rId19"/>
    <p:sldId id="315" r:id="rId20"/>
    <p:sldId id="304" r:id="rId21"/>
    <p:sldId id="326" r:id="rId22"/>
    <p:sldId id="308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08D4C24-9296-45C4-B436-FAEE5E1DCEFC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86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61953-B314-48A3-91E9-3F103EB5A56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A660F-C86D-4CF9-B5A6-5C1DF3D8659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-1" y="0"/>
            <a:ext cx="2234877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-1" y="0"/>
            <a:ext cx="2234877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92F7E-E11C-4DAB-9680-A86785F67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EA5E1-86FA-4AF3-99DF-55D1561B8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5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4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7.xml"/><Relationship Id="rId2" Type="http://schemas.openxmlformats.org/officeDocument/2006/relationships/image" Target="../media/image3.png"/><Relationship Id="rId1" Type="http://schemas.openxmlformats.org/officeDocument/2006/relationships/tags" Target="../tags/tag4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9.xml"/><Relationship Id="rId2" Type="http://schemas.openxmlformats.org/officeDocument/2006/relationships/image" Target="../media/image4.png"/><Relationship Id="rId1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0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5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3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6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4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/>
        </p:nvSpPr>
        <p:spPr>
          <a:xfrm>
            <a:off x="0" y="1"/>
            <a:ext cx="12192000" cy="4978399"/>
          </a:xfrm>
          <a:custGeom>
            <a:avLst/>
            <a:gdLst>
              <a:gd name="connsiteX0" fmla="*/ 0 w 12192000"/>
              <a:gd name="connsiteY0" fmla="*/ 0 h 6003320"/>
              <a:gd name="connsiteX1" fmla="*/ 9962896 w 12192000"/>
              <a:gd name="connsiteY1" fmla="*/ 0 h 6003320"/>
              <a:gd name="connsiteX2" fmla="*/ 10782780 w 12192000"/>
              <a:gd name="connsiteY2" fmla="*/ 0 h 6003320"/>
              <a:gd name="connsiteX3" fmla="*/ 12192000 w 12192000"/>
              <a:gd name="connsiteY3" fmla="*/ 0 h 6003320"/>
              <a:gd name="connsiteX4" fmla="*/ 12192000 w 12192000"/>
              <a:gd name="connsiteY4" fmla="*/ 1409220 h 6003320"/>
              <a:gd name="connsiteX5" fmla="*/ 12192000 w 12192000"/>
              <a:gd name="connsiteY5" fmla="*/ 1869970 h 6003320"/>
              <a:gd name="connsiteX6" fmla="*/ 12192000 w 12192000"/>
              <a:gd name="connsiteY6" fmla="*/ 4594101 h 6003320"/>
              <a:gd name="connsiteX7" fmla="*/ 10782780 w 12192000"/>
              <a:gd name="connsiteY7" fmla="*/ 6003320 h 6003320"/>
              <a:gd name="connsiteX8" fmla="*/ 0 w 12192000"/>
              <a:gd name="connsiteY8" fmla="*/ 6003320 h 6003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003320">
                <a:moveTo>
                  <a:pt x="0" y="0"/>
                </a:moveTo>
                <a:lnTo>
                  <a:pt x="9962896" y="0"/>
                </a:lnTo>
                <a:lnTo>
                  <a:pt x="10782780" y="0"/>
                </a:lnTo>
                <a:lnTo>
                  <a:pt x="12192000" y="0"/>
                </a:lnTo>
                <a:lnTo>
                  <a:pt x="12192000" y="1409220"/>
                </a:lnTo>
                <a:lnTo>
                  <a:pt x="12192000" y="1869970"/>
                </a:lnTo>
                <a:lnTo>
                  <a:pt x="12192000" y="4594101"/>
                </a:lnTo>
                <a:cubicBezTo>
                  <a:pt x="12192000" y="5372391"/>
                  <a:pt x="11561071" y="6003320"/>
                  <a:pt x="10782780" y="6003320"/>
                </a:cubicBezTo>
                <a:lnTo>
                  <a:pt x="0" y="600332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476885" y="2068830"/>
            <a:ext cx="6791325" cy="88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Nutrition Calculator</a:t>
            </a:r>
            <a:endParaRPr lang="en-US" altLang="zh-CN" sz="4000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4000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student-woman_56914"/>
          <p:cNvSpPr/>
          <p:nvPr/>
        </p:nvSpPr>
        <p:spPr>
          <a:xfrm>
            <a:off x="1164461" y="5897098"/>
            <a:ext cx="288655" cy="167084"/>
          </a:xfrm>
          <a:custGeom>
            <a:avLst/>
            <a:gdLst>
              <a:gd name="connsiteX0" fmla="*/ 122643 w 608203"/>
              <a:gd name="connsiteY0" fmla="*/ 180930 h 352051"/>
              <a:gd name="connsiteX1" fmla="*/ 304144 w 608203"/>
              <a:gd name="connsiteY1" fmla="*/ 236743 h 352051"/>
              <a:gd name="connsiteX2" fmla="*/ 485587 w 608203"/>
              <a:gd name="connsiteY2" fmla="*/ 180930 h 352051"/>
              <a:gd name="connsiteX3" fmla="*/ 485587 w 608203"/>
              <a:gd name="connsiteY3" fmla="*/ 273108 h 352051"/>
              <a:gd name="connsiteX4" fmla="*/ 485702 w 608203"/>
              <a:gd name="connsiteY4" fmla="*/ 274086 h 352051"/>
              <a:gd name="connsiteX5" fmla="*/ 304201 w 608203"/>
              <a:gd name="connsiteY5" fmla="*/ 352051 h 352051"/>
              <a:gd name="connsiteX6" fmla="*/ 122643 w 608203"/>
              <a:gd name="connsiteY6" fmla="*/ 274086 h 352051"/>
              <a:gd name="connsiteX7" fmla="*/ 122643 w 608203"/>
              <a:gd name="connsiteY7" fmla="*/ 235822 h 352051"/>
              <a:gd name="connsiteX8" fmla="*/ 304130 w 608203"/>
              <a:gd name="connsiteY8" fmla="*/ 0 h 352051"/>
              <a:gd name="connsiteX9" fmla="*/ 608203 w 608203"/>
              <a:gd name="connsiteY9" fmla="*/ 116841 h 352051"/>
              <a:gd name="connsiteX10" fmla="*/ 485548 w 608203"/>
              <a:gd name="connsiteY10" fmla="*/ 160621 h 352051"/>
              <a:gd name="connsiteX11" fmla="*/ 304130 w 608203"/>
              <a:gd name="connsiteY11" fmla="*/ 216424 h 352051"/>
              <a:gd name="connsiteX12" fmla="*/ 122655 w 608203"/>
              <a:gd name="connsiteY12" fmla="*/ 160621 h 352051"/>
              <a:gd name="connsiteX13" fmla="*/ 107906 w 608203"/>
              <a:gd name="connsiteY13" fmla="*/ 155386 h 352051"/>
              <a:gd name="connsiteX14" fmla="*/ 139823 w 608203"/>
              <a:gd name="connsiteY14" fmla="*/ 144973 h 352051"/>
              <a:gd name="connsiteX15" fmla="*/ 142876 w 608203"/>
              <a:gd name="connsiteY15" fmla="*/ 137552 h 352051"/>
              <a:gd name="connsiteX16" fmla="*/ 100013 w 608203"/>
              <a:gd name="connsiteY16" fmla="*/ 147216 h 352051"/>
              <a:gd name="connsiteX17" fmla="*/ 100013 w 608203"/>
              <a:gd name="connsiteY17" fmla="*/ 157917 h 352051"/>
              <a:gd name="connsiteX18" fmla="*/ 92351 w 608203"/>
              <a:gd name="connsiteY18" fmla="*/ 286781 h 352051"/>
              <a:gd name="connsiteX19" fmla="*/ 34740 w 608203"/>
              <a:gd name="connsiteY19" fmla="*/ 286781 h 352051"/>
              <a:gd name="connsiteX20" fmla="*/ 74146 w 608203"/>
              <a:gd name="connsiteY20" fmla="*/ 143304 h 352051"/>
              <a:gd name="connsiteX21" fmla="*/ 77142 w 608203"/>
              <a:gd name="connsiteY21" fmla="*/ 134503 h 352051"/>
              <a:gd name="connsiteX22" fmla="*/ 97536 w 608203"/>
              <a:gd name="connsiteY22" fmla="*/ 129670 h 352051"/>
              <a:gd name="connsiteX23" fmla="*/ 94137 w 608203"/>
              <a:gd name="connsiteY23" fmla="*/ 126161 h 352051"/>
              <a:gd name="connsiteX24" fmla="*/ 70343 w 608203"/>
              <a:gd name="connsiteY24" fmla="*/ 128174 h 352051"/>
              <a:gd name="connsiteX25" fmla="*/ 64813 w 608203"/>
              <a:gd name="connsiteY25" fmla="*/ 139968 h 352051"/>
              <a:gd name="connsiteX26" fmla="*/ 0 w 608203"/>
              <a:gd name="connsiteY26" fmla="*/ 116841 h 3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8203" h="352051">
                <a:moveTo>
                  <a:pt x="122643" y="180930"/>
                </a:moveTo>
                <a:lnTo>
                  <a:pt x="304144" y="236743"/>
                </a:lnTo>
                <a:lnTo>
                  <a:pt x="485587" y="180930"/>
                </a:lnTo>
                <a:lnTo>
                  <a:pt x="485587" y="273108"/>
                </a:lnTo>
                <a:cubicBezTo>
                  <a:pt x="485587" y="273395"/>
                  <a:pt x="485702" y="273740"/>
                  <a:pt x="485702" y="274086"/>
                </a:cubicBezTo>
                <a:cubicBezTo>
                  <a:pt x="485702" y="317182"/>
                  <a:pt x="404401" y="352051"/>
                  <a:pt x="304201" y="352051"/>
                </a:cubicBezTo>
                <a:cubicBezTo>
                  <a:pt x="203944" y="352051"/>
                  <a:pt x="122643" y="317182"/>
                  <a:pt x="122643" y="274086"/>
                </a:cubicBezTo>
                <a:lnTo>
                  <a:pt x="122643" y="235822"/>
                </a:lnTo>
                <a:close/>
                <a:moveTo>
                  <a:pt x="304130" y="0"/>
                </a:moveTo>
                <a:lnTo>
                  <a:pt x="608203" y="116841"/>
                </a:lnTo>
                <a:lnTo>
                  <a:pt x="485548" y="160621"/>
                </a:lnTo>
                <a:lnTo>
                  <a:pt x="304130" y="216424"/>
                </a:lnTo>
                <a:lnTo>
                  <a:pt x="122655" y="160621"/>
                </a:lnTo>
                <a:lnTo>
                  <a:pt x="107906" y="155386"/>
                </a:lnTo>
                <a:lnTo>
                  <a:pt x="139823" y="144973"/>
                </a:lnTo>
                <a:lnTo>
                  <a:pt x="142876" y="137552"/>
                </a:lnTo>
                <a:lnTo>
                  <a:pt x="100013" y="147216"/>
                </a:lnTo>
                <a:lnTo>
                  <a:pt x="100013" y="157917"/>
                </a:lnTo>
                <a:lnTo>
                  <a:pt x="92351" y="286781"/>
                </a:lnTo>
                <a:cubicBezTo>
                  <a:pt x="63545" y="303925"/>
                  <a:pt x="34740" y="286781"/>
                  <a:pt x="34740" y="286781"/>
                </a:cubicBezTo>
                <a:cubicBezTo>
                  <a:pt x="27999" y="239665"/>
                  <a:pt x="74146" y="143304"/>
                  <a:pt x="74146" y="143304"/>
                </a:cubicBezTo>
                <a:lnTo>
                  <a:pt x="77142" y="134503"/>
                </a:lnTo>
                <a:lnTo>
                  <a:pt x="97536" y="129670"/>
                </a:lnTo>
                <a:lnTo>
                  <a:pt x="94137" y="126161"/>
                </a:lnTo>
                <a:lnTo>
                  <a:pt x="70343" y="128174"/>
                </a:lnTo>
                <a:lnTo>
                  <a:pt x="64813" y="139968"/>
                </a:lnTo>
                <a:lnTo>
                  <a:pt x="0" y="1168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0" name="文本框 119"/>
          <p:cNvSpPr txBox="1"/>
          <p:nvPr>
            <p:custDataLst>
              <p:tags r:id="rId1"/>
            </p:custDataLst>
          </p:nvPr>
        </p:nvSpPr>
        <p:spPr>
          <a:xfrm>
            <a:off x="1516594" y="5795974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答辩人：张珂睿</a:t>
            </a:r>
            <a:endParaRPr lang="zh-CN" b="1" dirty="0" err="1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9" name="teacher-reading-a-book-sitting-behind-his-desk_42916"/>
          <p:cNvSpPr/>
          <p:nvPr>
            <p:custDataLst>
              <p:tags r:id="rId2"/>
            </p:custDataLst>
          </p:nvPr>
        </p:nvSpPr>
        <p:spPr>
          <a:xfrm>
            <a:off x="8609647" y="5853199"/>
            <a:ext cx="254929" cy="254882"/>
          </a:xfrm>
          <a:custGeom>
            <a:avLst/>
            <a:gdLst>
              <a:gd name="T0" fmla="*/ 5601 w 11203"/>
              <a:gd name="T1" fmla="*/ 0 h 11202"/>
              <a:gd name="T2" fmla="*/ 0 w 11203"/>
              <a:gd name="T3" fmla="*/ 5601 h 11202"/>
              <a:gd name="T4" fmla="*/ 5603 w 11203"/>
              <a:gd name="T5" fmla="*/ 11202 h 11202"/>
              <a:gd name="T6" fmla="*/ 11203 w 11203"/>
              <a:gd name="T7" fmla="*/ 5601 h 11202"/>
              <a:gd name="T8" fmla="*/ 5601 w 11203"/>
              <a:gd name="T9" fmla="*/ 0 h 11202"/>
              <a:gd name="T10" fmla="*/ 8403 w 11203"/>
              <a:gd name="T11" fmla="*/ 6218 h 11202"/>
              <a:gd name="T12" fmla="*/ 5429 w 11203"/>
              <a:gd name="T13" fmla="*/ 6218 h 11202"/>
              <a:gd name="T14" fmla="*/ 5250 w 11203"/>
              <a:gd name="T15" fmla="*/ 6182 h 11202"/>
              <a:gd name="T16" fmla="*/ 4970 w 11203"/>
              <a:gd name="T17" fmla="*/ 5760 h 11202"/>
              <a:gd name="T18" fmla="*/ 4970 w 11203"/>
              <a:gd name="T19" fmla="*/ 2786 h 11202"/>
              <a:gd name="T20" fmla="*/ 5429 w 11203"/>
              <a:gd name="T21" fmla="*/ 2327 h 11202"/>
              <a:gd name="T22" fmla="*/ 5889 w 11203"/>
              <a:gd name="T23" fmla="*/ 2786 h 11202"/>
              <a:gd name="T24" fmla="*/ 5889 w 11203"/>
              <a:gd name="T25" fmla="*/ 5301 h 11202"/>
              <a:gd name="T26" fmla="*/ 8404 w 11203"/>
              <a:gd name="T27" fmla="*/ 5301 h 11202"/>
              <a:gd name="T28" fmla="*/ 8863 w 11203"/>
              <a:gd name="T29" fmla="*/ 5760 h 11202"/>
              <a:gd name="T30" fmla="*/ 8403 w 11203"/>
              <a:gd name="T31" fmla="*/ 6218 h 11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203" h="11202">
                <a:moveTo>
                  <a:pt x="5601" y="0"/>
                </a:moveTo>
                <a:cubicBezTo>
                  <a:pt x="2507" y="0"/>
                  <a:pt x="0" y="2507"/>
                  <a:pt x="0" y="5601"/>
                </a:cubicBezTo>
                <a:cubicBezTo>
                  <a:pt x="0" y="8695"/>
                  <a:pt x="2509" y="11202"/>
                  <a:pt x="5603" y="11202"/>
                </a:cubicBezTo>
                <a:cubicBezTo>
                  <a:pt x="8695" y="11202"/>
                  <a:pt x="11203" y="8695"/>
                  <a:pt x="11203" y="5601"/>
                </a:cubicBezTo>
                <a:cubicBezTo>
                  <a:pt x="11203" y="2507"/>
                  <a:pt x="8695" y="0"/>
                  <a:pt x="5601" y="0"/>
                </a:cubicBezTo>
                <a:close/>
                <a:moveTo>
                  <a:pt x="8403" y="6218"/>
                </a:moveTo>
                <a:lnTo>
                  <a:pt x="5429" y="6218"/>
                </a:lnTo>
                <a:cubicBezTo>
                  <a:pt x="5366" y="6218"/>
                  <a:pt x="5305" y="6206"/>
                  <a:pt x="5250" y="6182"/>
                </a:cubicBezTo>
                <a:cubicBezTo>
                  <a:pt x="5085" y="6112"/>
                  <a:pt x="4970" y="5950"/>
                  <a:pt x="4970" y="5760"/>
                </a:cubicBezTo>
                <a:lnTo>
                  <a:pt x="4970" y="2786"/>
                </a:lnTo>
                <a:cubicBezTo>
                  <a:pt x="4970" y="2532"/>
                  <a:pt x="5175" y="2327"/>
                  <a:pt x="5429" y="2327"/>
                </a:cubicBezTo>
                <a:cubicBezTo>
                  <a:pt x="5683" y="2327"/>
                  <a:pt x="5889" y="2532"/>
                  <a:pt x="5889" y="2786"/>
                </a:cubicBezTo>
                <a:lnTo>
                  <a:pt x="5889" y="5301"/>
                </a:lnTo>
                <a:lnTo>
                  <a:pt x="8404" y="5301"/>
                </a:lnTo>
                <a:cubicBezTo>
                  <a:pt x="8657" y="5301"/>
                  <a:pt x="8863" y="5506"/>
                  <a:pt x="8863" y="5760"/>
                </a:cubicBezTo>
                <a:cubicBezTo>
                  <a:pt x="8863" y="6013"/>
                  <a:pt x="8656" y="6218"/>
                  <a:pt x="8403" y="62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8" name="文本框 127"/>
          <p:cNvSpPr txBox="1"/>
          <p:nvPr/>
        </p:nvSpPr>
        <p:spPr>
          <a:xfrm>
            <a:off x="8944918" y="5795974"/>
            <a:ext cx="1822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日期：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2026/04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11388455" y="315652"/>
            <a:ext cx="423862" cy="405200"/>
            <a:chOff x="11388455" y="315652"/>
            <a:chExt cx="423862" cy="405200"/>
          </a:xfrm>
        </p:grpSpPr>
        <p:sp>
          <p:nvSpPr>
            <p:cNvPr id="3" name="矩形 2"/>
            <p:cNvSpPr/>
            <p:nvPr/>
          </p:nvSpPr>
          <p:spPr>
            <a:xfrm>
              <a:off x="11388455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1543236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1698017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388455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1543236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1698017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11388455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11543236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11698017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885" y="3429000"/>
            <a:ext cx="89808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800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XJCO3011</a:t>
            </a:r>
            <a:r>
              <a:rPr lang="en-US" altLang="zh-CN" sz="2800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Web Services and Web Data</a:t>
            </a:r>
            <a:endParaRPr lang="en-US" altLang="zh-CN" sz="2800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7331" y="3455320"/>
            <a:ext cx="331025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  <a:latin typeface="+mj-ea"/>
                <a:ea typeface="+mj-ea"/>
              </a:rPr>
              <a:t>CONTENTS</a:t>
            </a:r>
            <a:endParaRPr lang="en-US" altLang="zh-CN" sz="4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01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23" name="文本框 122"/>
          <p:cNvSpPr txBox="1"/>
          <p:nvPr>
            <p:custDataLst>
              <p:tags r:id="rId2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</a:rPr>
              <a:t>Introduction</a:t>
            </a:r>
            <a:endParaRPr lang="en-US" altLang="zh-CN" sz="2800" b="1" dirty="0">
              <a:latin typeface="+mj-ea"/>
              <a:ea typeface="+mj-ea"/>
            </a:endParaRPr>
          </a:p>
          <a:p>
            <a:endParaRPr lang="en-US" altLang="zh-CN" sz="2800" b="1" dirty="0">
              <a:latin typeface="+mj-ea"/>
              <a:ea typeface="+mj-ea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3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4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02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75" name="文本框 174"/>
          <p:cNvSpPr txBox="1"/>
          <p:nvPr>
            <p:custDataLst>
              <p:tags r:id="rId5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latin typeface="+mj-ea"/>
              <a:ea typeface="+mj-ea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6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7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03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81" name="文本框 180"/>
          <p:cNvSpPr txBox="1"/>
          <p:nvPr>
            <p:custDataLst>
              <p:tags r:id="rId8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</a:rPr>
              <a:t>Technical Highlight</a:t>
            </a:r>
            <a:endParaRPr lang="en-US" altLang="zh-CN" sz="2800" b="1" dirty="0">
              <a:latin typeface="+mj-ea"/>
              <a:ea typeface="+mj-ea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9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10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04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sp>
        <p:nvSpPr>
          <p:cNvPr id="187" name="文本框 186"/>
          <p:cNvSpPr txBox="1"/>
          <p:nvPr>
            <p:custDataLst>
              <p:tags r:id="rId11"/>
            </p:custDataLst>
          </p:nvPr>
        </p:nvSpPr>
        <p:spPr>
          <a:xfrm>
            <a:off x="6536055" y="5111750"/>
            <a:ext cx="354139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</a:rPr>
              <a:t>Project Achievements</a:t>
            </a:r>
            <a:endParaRPr lang="en-US" altLang="zh-CN" sz="2800" b="1" dirty="0">
              <a:latin typeface="+mj-ea"/>
              <a:ea typeface="+mj-ea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12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7186" y="2613945"/>
            <a:ext cx="22009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PART 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32281" y="3547802"/>
            <a:ext cx="126365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800" b="1" dirty="0">
                <a:solidFill>
                  <a:schemeClr val="bg1"/>
                </a:solidFill>
                <a:latin typeface="+mj-ea"/>
                <a:ea typeface="+mj-ea"/>
              </a:rPr>
              <a:t>ONE</a:t>
            </a:r>
            <a:endParaRPr lang="zh-CN" altLang="en-US" sz="3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/>
                </a:solidFill>
                <a:latin typeface="Impact" panose="020B0806030902050204" pitchFamily="34" charset="0"/>
              </a:rPr>
              <a:t>01</a:t>
            </a:r>
            <a:endParaRPr lang="zh-CN" altLang="en-US" sz="4400" dirty="0">
              <a:solidFill>
                <a:schemeClr val="accent1"/>
              </a:solidFill>
              <a:latin typeface="Impact" panose="020B0806030902050204" pitchFamily="34" charset="0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2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3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02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4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5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6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7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04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8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latin typeface="+mj-ea"/>
                <a:ea typeface="+mj-ea"/>
              </a:rPr>
              <a:t>Introduction</a:t>
            </a:r>
            <a:endParaRPr lang="en-US" altLang="zh-CN" sz="2800" b="1" dirty="0">
              <a:latin typeface="+mj-ea"/>
              <a:ea typeface="+mj-ea"/>
            </a:endParaRPr>
          </a:p>
          <a:p>
            <a:endParaRPr lang="en-US" altLang="zh-CN" sz="2800" b="1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Technical Highlights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6536055" y="5111750"/>
            <a:ext cx="459676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Project Achievements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178769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文本框 126"/>
          <p:cNvSpPr txBox="1"/>
          <p:nvPr/>
        </p:nvSpPr>
        <p:spPr>
          <a:xfrm>
            <a:off x="3035300" y="378595"/>
            <a:ext cx="35820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Project Introduction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36" name="直接连接符 135"/>
          <p:cNvCxnSpPr/>
          <p:nvPr/>
        </p:nvCxnSpPr>
        <p:spPr>
          <a:xfrm>
            <a:off x="2782570" y="3787000"/>
            <a:ext cx="858658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/>
          <p:cNvSpPr txBox="1"/>
          <p:nvPr/>
        </p:nvSpPr>
        <p:spPr>
          <a:xfrm>
            <a:off x="2781300" y="1597025"/>
            <a:ext cx="8477885" cy="1904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A web-based nutrition calculation and management tool.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Users can manage their own food database.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Select foods and input weight in grams to automatically calculate total nutrition.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Supports batch import of external food data (CSV format).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Saves calculation history for easy dietary tracking.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2782570" y="3925570"/>
            <a:ext cx="2223770" cy="5416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Technology Stack</a:t>
            </a:r>
            <a:endParaRPr lang="en-US" altLang="zh-CN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82570" y="1156970"/>
            <a:ext cx="2223770" cy="4400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Project Overview</a:t>
            </a:r>
            <a:endParaRPr lang="en-US" altLang="zh-CN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246120" y="4467225"/>
          <a:ext cx="5806440" cy="2108200"/>
        </p:xfrm>
        <a:graphic>
          <a:graphicData uri="http://schemas.openxmlformats.org/drawingml/2006/table">
            <a:tbl>
              <a:tblPr/>
              <a:tblGrid>
                <a:gridCol w="2827020"/>
                <a:gridCol w="2979420"/>
              </a:tblGrid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Backend Framework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Django 4.2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Database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SQLite3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Frontend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HTML + CSS + JavaScript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Data Processing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pandas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Version Control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01917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Git + GitHub</a:t>
                      </a:r>
                      <a:endParaRPr lang="en-US" altLang="zh-CN" sz="16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01917" marR="0" marT="63817" marB="6381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7186" y="2613945"/>
            <a:ext cx="22009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PART 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32281" y="3547802"/>
            <a:ext cx="140843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800" b="1" dirty="0">
                <a:solidFill>
                  <a:schemeClr val="bg1"/>
                </a:solidFill>
                <a:latin typeface="+mj-ea"/>
                <a:ea typeface="+mj-ea"/>
              </a:rPr>
              <a:t>TWO</a:t>
            </a:r>
            <a:endParaRPr lang="en-US" altLang="zh-CN" sz="3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01</a:t>
            </a:r>
            <a:endParaRPr lang="en-US" altLang="zh-CN" sz="44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2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3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02</a:t>
            </a:r>
            <a:endParaRPr lang="en-US" altLang="zh-CN" sz="44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4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5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6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7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04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8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solidFill>
                <a:schemeClr val="tx2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Technical Highlights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536055" y="5111750"/>
            <a:ext cx="459676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Project Achievements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文本框 126"/>
          <p:cNvSpPr txBox="1"/>
          <p:nvPr/>
        </p:nvSpPr>
        <p:spPr>
          <a:xfrm>
            <a:off x="2711450" y="296680"/>
            <a:ext cx="37680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User Authentication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2485390" y="5205095"/>
            <a:ext cx="4486910" cy="1499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User Registration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 - Username, email, password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 - Form validation and error handling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 - Auto-login after successful registration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图片 3" descr="2dfde84f28c7b52ae5b0c386b4171f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0" y="818515"/>
            <a:ext cx="3768090" cy="4386580"/>
          </a:xfrm>
          <a:prstGeom prst="rect">
            <a:avLst/>
          </a:prstGeom>
        </p:spPr>
      </p:pic>
      <p:pic>
        <p:nvPicPr>
          <p:cNvPr id="6" name="图片 5" descr="1eac7c031abb5586de618f430ae312d"/>
          <p:cNvPicPr>
            <a:picLocks noChangeAspect="1"/>
          </p:cNvPicPr>
          <p:nvPr/>
        </p:nvPicPr>
        <p:blipFill>
          <a:blip r:embed="rId3"/>
          <a:srcRect l="4303" t="2377" r="5489" b="1993"/>
          <a:stretch>
            <a:fillRect/>
          </a:stretch>
        </p:blipFill>
        <p:spPr>
          <a:xfrm>
            <a:off x="7362825" y="818515"/>
            <a:ext cx="4093845" cy="43865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26630" y="5429250"/>
            <a:ext cx="4271645" cy="1050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User Login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- Session-based authentication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- Redirect to home page after login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文本框 126"/>
          <p:cNvSpPr txBox="1"/>
          <p:nvPr/>
        </p:nvSpPr>
        <p:spPr>
          <a:xfrm>
            <a:off x="2708275" y="409075"/>
            <a:ext cx="4943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Food Library Management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708275" y="5721985"/>
            <a:ext cx="6790690" cy="716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• View all foods in a searchable and filterable table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• Delete food items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c1892e106cc4b9b650dbf016a9fdc5e"/>
          <p:cNvPicPr>
            <a:picLocks noChangeAspect="1"/>
          </p:cNvPicPr>
          <p:nvPr/>
        </p:nvPicPr>
        <p:blipFill>
          <a:blip r:embed="rId2"/>
          <a:srcRect l="487" t="9508" b="3152"/>
          <a:stretch>
            <a:fillRect/>
          </a:stretch>
        </p:blipFill>
        <p:spPr>
          <a:xfrm>
            <a:off x="2708275" y="930910"/>
            <a:ext cx="8788400" cy="478282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90835" y="2447290"/>
            <a:ext cx="607060" cy="31400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文本框 126"/>
          <p:cNvSpPr txBox="1"/>
          <p:nvPr/>
        </p:nvSpPr>
        <p:spPr>
          <a:xfrm>
            <a:off x="2708275" y="409075"/>
            <a:ext cx="4943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Food Library Management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708275" y="4352290"/>
            <a:ext cx="6790690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• Search by food name or categories (case-insensitive)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" name="图片 2" descr="184303579da3bd09f88f0a31dc53f55"/>
          <p:cNvPicPr>
            <a:picLocks noChangeAspect="1"/>
          </p:cNvPicPr>
          <p:nvPr/>
        </p:nvPicPr>
        <p:blipFill>
          <a:blip r:embed="rId2"/>
          <a:srcRect t="13800"/>
          <a:stretch>
            <a:fillRect/>
          </a:stretch>
        </p:blipFill>
        <p:spPr>
          <a:xfrm>
            <a:off x="2708275" y="1037590"/>
            <a:ext cx="9137650" cy="30422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952115" y="1673225"/>
            <a:ext cx="8649970" cy="52895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614660" y="1144270"/>
            <a:ext cx="1164590" cy="4025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08275" y="409075"/>
            <a:ext cx="4943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Food Library Management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579215adced8d0a24142765aa170cbc"/>
          <p:cNvPicPr>
            <a:picLocks noChangeAspect="1"/>
          </p:cNvPicPr>
          <p:nvPr/>
        </p:nvPicPr>
        <p:blipFill>
          <a:blip r:embed="rId1"/>
          <a:srcRect l="26151" t="11555" r="26443" b="1983"/>
          <a:stretch>
            <a:fillRect/>
          </a:stretch>
        </p:blipFill>
        <p:spPr>
          <a:xfrm>
            <a:off x="7078980" y="1088390"/>
            <a:ext cx="4745355" cy="4235450"/>
          </a:xfrm>
          <a:prstGeom prst="rect">
            <a:avLst/>
          </a:prstGeom>
        </p:spPr>
      </p:pic>
      <p:pic>
        <p:nvPicPr>
          <p:cNvPr id="7" name="图片 6" descr="e64d3548fc0fb4eec3c537090493b3b"/>
          <p:cNvPicPr>
            <a:picLocks noChangeAspect="1"/>
          </p:cNvPicPr>
          <p:nvPr/>
        </p:nvPicPr>
        <p:blipFill>
          <a:blip r:embed="rId2"/>
          <a:srcRect l="26929" t="12760" r="27451" b="1619"/>
          <a:stretch>
            <a:fillRect/>
          </a:stretch>
        </p:blipFill>
        <p:spPr>
          <a:xfrm>
            <a:off x="2485390" y="1088390"/>
            <a:ext cx="4701540" cy="42354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85390" y="5563235"/>
            <a:ext cx="4702175" cy="612140"/>
          </a:xfrm>
          <a:prstGeom prst="rect">
            <a:avLst/>
          </a:prstGeom>
        </p:spPr>
        <p:txBody>
          <a:bodyPr>
            <a:no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>
                <a:solidFill>
                  <a:srgbClr val="0F1115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• Add new food manually with nutritional information</a:t>
            </a:r>
            <a:endParaRPr lang="en-US" altLang="zh-CN" sz="2000" b="0">
              <a:solidFill>
                <a:srgbClr val="0F1115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85990" y="5563235"/>
            <a:ext cx="3986530" cy="445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F1115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sym typeface="+mn-ea"/>
              </a:rPr>
              <a:t>• Edit existing food items</a:t>
            </a:r>
            <a:endParaRPr lang="en-US" altLang="zh-CN" sz="2000">
              <a:solidFill>
                <a:srgbClr val="0F1115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92916e62d61e61dc98643bdbbf5b4c"/>
          <p:cNvPicPr>
            <a:picLocks noChangeAspect="1"/>
          </p:cNvPicPr>
          <p:nvPr/>
        </p:nvPicPr>
        <p:blipFill>
          <a:blip r:embed="rId1"/>
          <a:srcRect l="25740" t="10405" r="25573"/>
          <a:stretch>
            <a:fillRect/>
          </a:stretch>
        </p:blipFill>
        <p:spPr>
          <a:xfrm>
            <a:off x="2752090" y="1116965"/>
            <a:ext cx="5546725" cy="53651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08275" y="409075"/>
            <a:ext cx="4943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Food Library Management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34425" y="4368800"/>
            <a:ext cx="2709545" cy="6445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• Batch import foods from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CSV files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760" y="1229360"/>
            <a:ext cx="3190875" cy="21050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08275" y="409075"/>
            <a:ext cx="37458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Nutrition Calculator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f923526e04f4207a8346b0173f053f6"/>
          <p:cNvPicPr>
            <a:picLocks noChangeAspect="1"/>
          </p:cNvPicPr>
          <p:nvPr/>
        </p:nvPicPr>
        <p:blipFill>
          <a:blip r:embed="rId1"/>
          <a:srcRect l="291" b="3074"/>
          <a:stretch>
            <a:fillRect/>
          </a:stretch>
        </p:blipFill>
        <p:spPr>
          <a:xfrm>
            <a:off x="2729865" y="1053465"/>
            <a:ext cx="7223125" cy="44926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953625" y="1464945"/>
            <a:ext cx="2047240" cy="35445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• Selected Foods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Panel (Right Side)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  - Adjust weight in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grams for each food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  - Remove foods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from selection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  - Calculate total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nutrition with one 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F1115"/>
                </a:solidFill>
                <a:latin typeface="menlo"/>
                <a:ea typeface="menlo"/>
              </a:rPr>
              <a:t>click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29865" y="5590540"/>
            <a:ext cx="347916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• Food Selection Panel (Left Side)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Search foods by name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Filter foods by category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Click to add foods to selection list</a:t>
            </a:r>
            <a:endParaRPr lang="en-US" altLang="zh-CN" sz="1600">
              <a:solidFill>
                <a:srgbClr val="0F1115"/>
              </a:solidFill>
              <a:latin typeface="menlo"/>
              <a:ea typeface="menlo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35395" y="5590540"/>
            <a:ext cx="460756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• Results Display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Total weight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Total calories, protein, carbs, fat</a:t>
            </a:r>
            <a:endParaRPr lang="en-US" altLang="zh-CN" sz="1600" b="0">
              <a:solidFill>
                <a:srgbClr val="0F1115"/>
              </a:solidFill>
              <a:latin typeface="menlo"/>
              <a:ea typeface="menlo"/>
            </a:endParaRPr>
          </a:p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F1115"/>
                </a:solidFill>
                <a:latin typeface="menlo"/>
                <a:ea typeface="menlo"/>
                <a:sym typeface="+mn-ea"/>
              </a:rPr>
              <a:t>  - Detailed breakdown per food item</a:t>
            </a:r>
            <a:endParaRPr lang="en-US" altLang="zh-CN" sz="1600">
              <a:solidFill>
                <a:srgbClr val="0F1115"/>
              </a:solidFill>
              <a:latin typeface="menlo"/>
              <a:ea typeface="menlo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2929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08275" y="409075"/>
            <a:ext cx="36023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Calculation History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c701fa584639eb6864de6757e44f438"/>
          <p:cNvPicPr>
            <a:picLocks noChangeAspect="1"/>
          </p:cNvPicPr>
          <p:nvPr/>
        </p:nvPicPr>
        <p:blipFill>
          <a:blip r:embed="rId1"/>
          <a:srcRect t="18939"/>
          <a:stretch>
            <a:fillRect/>
          </a:stretch>
        </p:blipFill>
        <p:spPr>
          <a:xfrm>
            <a:off x="2587625" y="930910"/>
            <a:ext cx="9209405" cy="2144395"/>
          </a:xfrm>
          <a:prstGeom prst="rect">
            <a:avLst/>
          </a:prstGeom>
        </p:spPr>
      </p:pic>
      <p:pic>
        <p:nvPicPr>
          <p:cNvPr id="6" name="图片 5" descr="9bde13551b61bb11e1c3a6fd3030552"/>
          <p:cNvPicPr>
            <a:picLocks noChangeAspect="1"/>
          </p:cNvPicPr>
          <p:nvPr/>
        </p:nvPicPr>
        <p:blipFill>
          <a:blip r:embed="rId2"/>
          <a:srcRect l="603" t="10343"/>
          <a:stretch>
            <a:fillRect/>
          </a:stretch>
        </p:blipFill>
        <p:spPr>
          <a:xfrm>
            <a:off x="2587625" y="3038475"/>
            <a:ext cx="6870700" cy="3429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458960" y="3144520"/>
            <a:ext cx="2733040" cy="3185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Automatic History Saving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Shows date, total calories, and macros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Chronological order (newest first)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History Detail View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Complete nutritional breakdown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Per-food contribution details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Total weight and macronutrient summary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7186" y="2613945"/>
            <a:ext cx="22009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PART 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25551" y="3547802"/>
            <a:ext cx="177038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800" b="1" dirty="0">
                <a:solidFill>
                  <a:schemeClr val="bg1"/>
                </a:solidFill>
                <a:latin typeface="+mj-ea"/>
                <a:ea typeface="+mj-ea"/>
              </a:rPr>
              <a:t>THREE</a:t>
            </a:r>
            <a:endParaRPr lang="en-US" altLang="zh-CN" sz="3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01</a:t>
            </a:r>
            <a:endParaRPr lang="en-US" altLang="zh-CN" sz="44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2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3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02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4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5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4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6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7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04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8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Technical Highlights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536055" y="5111750"/>
            <a:ext cx="459676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Project Achievements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4072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77160" y="36830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APIs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9125" y="2363470"/>
            <a:ext cx="5181600" cy="247713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rcRect r="18944"/>
          <a:stretch>
            <a:fillRect/>
          </a:stretch>
        </p:blipFill>
        <p:spPr>
          <a:xfrm>
            <a:off x="2416175" y="1149985"/>
            <a:ext cx="4374515" cy="175133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l="2220" r="3839"/>
          <a:stretch>
            <a:fillRect/>
          </a:stretch>
        </p:blipFill>
        <p:spPr>
          <a:xfrm>
            <a:off x="2458085" y="4688840"/>
            <a:ext cx="4552950" cy="129857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rcRect r="5066"/>
          <a:stretch>
            <a:fillRect/>
          </a:stretch>
        </p:blipFill>
        <p:spPr>
          <a:xfrm>
            <a:off x="2458085" y="3038475"/>
            <a:ext cx="4511040" cy="14008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手动输入 3"/>
          <p:cNvSpPr/>
          <p:nvPr/>
        </p:nvSpPr>
        <p:spPr>
          <a:xfrm rot="5400000">
            <a:off x="3455670" y="1859280"/>
            <a:ext cx="3105150" cy="4851400"/>
          </a:xfrm>
          <a:prstGeom prst="flowChartManualInput">
            <a:avLst/>
          </a:prstGeom>
          <a:noFill/>
          <a:ln>
            <a:gradFill>
              <a:gsLst>
                <a:gs pos="0">
                  <a:schemeClr val="bg1">
                    <a:alpha val="0"/>
                  </a:schemeClr>
                </a:gs>
                <a:gs pos="41000">
                  <a:schemeClr val="accent1"/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手动输入 4"/>
          <p:cNvSpPr/>
          <p:nvPr/>
        </p:nvSpPr>
        <p:spPr>
          <a:xfrm rot="16200000">
            <a:off x="7957820" y="1859280"/>
            <a:ext cx="3105150" cy="4851400"/>
          </a:xfrm>
          <a:prstGeom prst="flowChartManualInput">
            <a:avLst/>
          </a:prstGeom>
          <a:noFill/>
          <a:ln>
            <a:gradFill>
              <a:gsLst>
                <a:gs pos="0">
                  <a:schemeClr val="bg1">
                    <a:alpha val="0"/>
                  </a:schemeClr>
                </a:gs>
                <a:gs pos="41000">
                  <a:schemeClr val="accent1"/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426960" y="2941955"/>
            <a:ext cx="4509135" cy="48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Standardized Data Storage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77160" y="1123950"/>
            <a:ext cx="7697470" cy="1170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Calculation Formula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Total Nutrient = Σ (Nutrient_per_100g </a:t>
            </a:r>
            <a:r>
              <a:rPr lang="en-US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Weight / 100)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Applied to calories, protein, carbs, fat, fiber, and sugar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" y="4072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77160" y="368300"/>
            <a:ext cx="5942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Nutrition Calculation Algorithm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84500" y="2941955"/>
            <a:ext cx="4159885" cy="498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Automatic Aggregation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775075" y="4881245"/>
            <a:ext cx="330962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just">
              <a:lnSpc>
                <a:spcPct val="13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Data Validation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87945" y="3560445"/>
            <a:ext cx="424815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Flexible column name mapping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189605" y="3646805"/>
            <a:ext cx="389509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Intelligent category inference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89325" y="4264025"/>
            <a:ext cx="3295650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Duplicate prevention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958455" y="4211320"/>
            <a:ext cx="3750945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AJAX-Based Calculation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81035" y="4862195"/>
            <a:ext cx="3336925" cy="4108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lvl="0" indent="-285750" algn="just">
              <a:lnSpc>
                <a:spcPct val="13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JSON Response Handling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0785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526748" y="2506690"/>
            <a:ext cx="2769027" cy="1778000"/>
          </a:xfrm>
          <a:custGeom>
            <a:avLst/>
            <a:gdLst>
              <a:gd name="connsiteX0" fmla="*/ 584200 w 3048000"/>
              <a:gd name="connsiteY0" fmla="*/ 1778000 h 1778000"/>
              <a:gd name="connsiteX1" fmla="*/ 0 w 3048000"/>
              <a:gd name="connsiteY1" fmla="*/ 1778000 h 1778000"/>
              <a:gd name="connsiteX2" fmla="*/ 0 w 3048000"/>
              <a:gd name="connsiteY2" fmla="*/ 0 h 1778000"/>
              <a:gd name="connsiteX3" fmla="*/ 3048000 w 3048000"/>
              <a:gd name="connsiteY3" fmla="*/ 0 h 1778000"/>
              <a:gd name="connsiteX4" fmla="*/ 3048000 w 3048000"/>
              <a:gd name="connsiteY4" fmla="*/ 10033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1778000">
                <a:moveTo>
                  <a:pt x="584200" y="1778000"/>
                </a:moveTo>
                <a:lnTo>
                  <a:pt x="0" y="1778000"/>
                </a:lnTo>
                <a:lnTo>
                  <a:pt x="0" y="0"/>
                </a:lnTo>
                <a:lnTo>
                  <a:pt x="3048000" y="0"/>
                </a:lnTo>
                <a:lnTo>
                  <a:pt x="3048000" y="10033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7186" y="2613945"/>
            <a:ext cx="22009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+mj-ea"/>
                <a:ea typeface="+mj-ea"/>
              </a:rPr>
              <a:t>PART </a:t>
            </a:r>
            <a:endParaRPr lang="en-US" altLang="zh-CN" sz="5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37006" y="3547802"/>
            <a:ext cx="1558925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800" b="1" dirty="0">
                <a:solidFill>
                  <a:schemeClr val="bg1"/>
                </a:solidFill>
                <a:latin typeface="+mj-ea"/>
                <a:ea typeface="+mj-ea"/>
              </a:rPr>
              <a:t>FOUR</a:t>
            </a:r>
            <a:endParaRPr lang="en-US" altLang="zh-CN" sz="3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4572" y="4223676"/>
            <a:ext cx="2321203" cy="127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1"/>
            </p:custDataLst>
          </p:nvPr>
        </p:nvSpPr>
        <p:spPr>
          <a:xfrm>
            <a:off x="5387561" y="1120230"/>
            <a:ext cx="702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01</a:t>
            </a:r>
            <a:endParaRPr lang="en-US" altLang="zh-CN" sz="44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52" name="直接连接符 151"/>
          <p:cNvCxnSpPr/>
          <p:nvPr>
            <p:custDataLst>
              <p:tags r:id="rId2"/>
            </p:custDataLst>
          </p:nvPr>
        </p:nvCxnSpPr>
        <p:spPr>
          <a:xfrm>
            <a:off x="6312870" y="11707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>
            <p:custDataLst>
              <p:tags r:id="rId3"/>
            </p:custDataLst>
          </p:nvPr>
        </p:nvSpPr>
        <p:spPr>
          <a:xfrm>
            <a:off x="5387561" y="2402930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02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74" name="直接连接符 173"/>
          <p:cNvCxnSpPr/>
          <p:nvPr>
            <p:custDataLst>
              <p:tags r:id="rId4"/>
            </p:custDataLst>
          </p:nvPr>
        </p:nvCxnSpPr>
        <p:spPr>
          <a:xfrm>
            <a:off x="6312870" y="24534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>
            <p:custDataLst>
              <p:tags r:id="rId5"/>
            </p:custDataLst>
          </p:nvPr>
        </p:nvSpPr>
        <p:spPr>
          <a:xfrm>
            <a:off x="5387561" y="3685630"/>
            <a:ext cx="7873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bg1">
                    <a:lumMod val="75000"/>
                  </a:schemeClr>
                </a:solidFill>
                <a:latin typeface="Impact" panose="020B0806030902050204" pitchFamily="34" charset="0"/>
              </a:rPr>
              <a:t>03</a:t>
            </a:r>
            <a:endParaRPr lang="en-US" altLang="zh-CN" sz="4400" dirty="0">
              <a:solidFill>
                <a:schemeClr val="bg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0" name="直接连接符 179"/>
          <p:cNvCxnSpPr/>
          <p:nvPr>
            <p:custDataLst>
              <p:tags r:id="rId6"/>
            </p:custDataLst>
          </p:nvPr>
        </p:nvCxnSpPr>
        <p:spPr>
          <a:xfrm>
            <a:off x="6312870" y="37361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>
            <p:custDataLst>
              <p:tags r:id="rId7"/>
            </p:custDataLst>
          </p:nvPr>
        </p:nvSpPr>
        <p:spPr>
          <a:xfrm>
            <a:off x="5387561" y="4968330"/>
            <a:ext cx="769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rPr>
              <a:t>04</a:t>
            </a:r>
            <a:endParaRPr lang="en-US" altLang="zh-CN" sz="4400" dirty="0">
              <a:solidFill>
                <a:schemeClr val="accent1">
                  <a:lumMod val="75000"/>
                </a:schemeClr>
              </a:solidFill>
              <a:latin typeface="Impact" panose="020B0806030902050204" pitchFamily="34" charset="0"/>
            </a:endParaRPr>
          </a:p>
        </p:txBody>
      </p:sp>
      <p:cxnSp>
        <p:nvCxnSpPr>
          <p:cNvPr id="186" name="直接连接符 185"/>
          <p:cNvCxnSpPr/>
          <p:nvPr>
            <p:custDataLst>
              <p:tags r:id="rId8"/>
            </p:custDataLst>
          </p:nvPr>
        </p:nvCxnSpPr>
        <p:spPr>
          <a:xfrm>
            <a:off x="6312870" y="5018895"/>
            <a:ext cx="0" cy="668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536055" y="1316355"/>
            <a:ext cx="352679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  <a:p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523990" y="2501900"/>
            <a:ext cx="4832350" cy="621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Core Functions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536055" y="3830320"/>
            <a:ext cx="4694555" cy="5740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Technical Highlights</a:t>
            </a:r>
            <a:endParaRPr lang="en-US" altLang="zh-CN" sz="28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536055" y="5111750"/>
            <a:ext cx="4596765" cy="5505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Project Achievements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文本框 126"/>
          <p:cNvSpPr txBox="1"/>
          <p:nvPr/>
        </p:nvSpPr>
        <p:spPr>
          <a:xfrm>
            <a:off x="2858770" y="508135"/>
            <a:ext cx="19011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Summary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624276" y="1363813"/>
          <a:ext cx="8809355" cy="3934460"/>
        </p:xfrm>
        <a:graphic>
          <a:graphicData uri="http://schemas.openxmlformats.org/drawingml/2006/table">
            <a:tbl>
              <a:tblPr firstRow="1" bandRow="1">
                <a:tableStyleId>{B08D4C24-9296-45C4-B436-FAEE5E1DCEFC}</a:tableStyleId>
              </a:tblPr>
              <a:tblGrid>
                <a:gridCol w="2916555"/>
                <a:gridCol w="2048510"/>
                <a:gridCol w="3844290"/>
              </a:tblGrid>
              <a:tr h="68643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spc="13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Feature</a:t>
                      </a:r>
                      <a:endParaRPr lang="en-US" altLang="zh-CN" sz="1800" spc="13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spc="13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Status</a:t>
                      </a:r>
                      <a:endParaRPr lang="en-US" altLang="zh-CN" sz="1800" spc="13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spc="13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Description</a:t>
                      </a:r>
                      <a:endParaRPr lang="en-US" altLang="zh-CN" sz="1800" spc="13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User Registration/Login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Full authentication flow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Food CRUD Operations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Create, Read, Update, Delete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CSV Import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Batch import with auto-mapping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Nutrition Calculation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Multi-food calculation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  <a:tr h="6496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History Tracking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✅ Complete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>
                          <a:latin typeface="Arial" panose="020B0604020202020204" pitchFamily="34" charset="0"/>
                          <a:ea typeface="黑体" panose="02010609060101010101" charset="-122"/>
                          <a:cs typeface="Arial" panose="020B0604020202020204" pitchFamily="34" charset="0"/>
                        </a:rPr>
                        <a:t>Save and review past meals</a:t>
                      </a:r>
                      <a:endParaRPr lang="en-US" altLang="zh-CN" sz="1800">
                        <a:latin typeface="Arial" panose="020B0604020202020204" pitchFamily="34" charset="0"/>
                        <a:ea typeface="黑体" panose="02010609060101010101" charset="-122"/>
                        <a:cs typeface="Arial" panose="020B0604020202020204" pitchFamily="34" charset="0"/>
                      </a:endParaRPr>
                    </a:p>
                  </a:txBody>
                  <a:tcPr marL="254000" marR="254000" marT="177800" marB="177800" anchor="ctr" anchorCtr="0"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-1" y="5215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文本框 126"/>
          <p:cNvSpPr txBox="1"/>
          <p:nvPr/>
        </p:nvSpPr>
        <p:spPr>
          <a:xfrm>
            <a:off x="2858770" y="303030"/>
            <a:ext cx="30353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Commit History</a:t>
            </a:r>
            <a:endParaRPr lang="en-US" altLang="zh-CN" sz="28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-1" y="5215421"/>
            <a:ext cx="2234877" cy="616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406555" y="3038556"/>
            <a:ext cx="14217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Functions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61152" y="4181335"/>
            <a:ext cx="15125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sym typeface="+mn-ea"/>
              </a:rPr>
              <a:t>Highlights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29377" y="5324113"/>
            <a:ext cx="19761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  <a:sym typeface="+mn-ea"/>
              </a:rPr>
              <a:t>Achievements</a:t>
            </a:r>
            <a:endParaRPr lang="en-US" altLang="zh-CN" sz="2000" b="1" dirty="0">
              <a:solidFill>
                <a:schemeClr val="bg1">
                  <a:lumMod val="95000"/>
                </a:schemeClr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23357" y="1895777"/>
            <a:ext cx="17881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rPr>
              <a:t>Introduction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539" b="1933"/>
          <a:stretch>
            <a:fillRect/>
          </a:stretch>
        </p:blipFill>
        <p:spPr>
          <a:xfrm>
            <a:off x="2522855" y="824865"/>
            <a:ext cx="7621270" cy="57715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890895" y="1678305"/>
            <a:ext cx="1918970" cy="3600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/>
        </p:nvSpPr>
        <p:spPr>
          <a:xfrm>
            <a:off x="0" y="1"/>
            <a:ext cx="12192000" cy="4978399"/>
          </a:xfrm>
          <a:custGeom>
            <a:avLst/>
            <a:gdLst>
              <a:gd name="connsiteX0" fmla="*/ 0 w 12192000"/>
              <a:gd name="connsiteY0" fmla="*/ 0 h 6003320"/>
              <a:gd name="connsiteX1" fmla="*/ 9962896 w 12192000"/>
              <a:gd name="connsiteY1" fmla="*/ 0 h 6003320"/>
              <a:gd name="connsiteX2" fmla="*/ 10782780 w 12192000"/>
              <a:gd name="connsiteY2" fmla="*/ 0 h 6003320"/>
              <a:gd name="connsiteX3" fmla="*/ 12192000 w 12192000"/>
              <a:gd name="connsiteY3" fmla="*/ 0 h 6003320"/>
              <a:gd name="connsiteX4" fmla="*/ 12192000 w 12192000"/>
              <a:gd name="connsiteY4" fmla="*/ 1409220 h 6003320"/>
              <a:gd name="connsiteX5" fmla="*/ 12192000 w 12192000"/>
              <a:gd name="connsiteY5" fmla="*/ 1869970 h 6003320"/>
              <a:gd name="connsiteX6" fmla="*/ 12192000 w 12192000"/>
              <a:gd name="connsiteY6" fmla="*/ 4594101 h 6003320"/>
              <a:gd name="connsiteX7" fmla="*/ 10782780 w 12192000"/>
              <a:gd name="connsiteY7" fmla="*/ 6003320 h 6003320"/>
              <a:gd name="connsiteX8" fmla="*/ 0 w 12192000"/>
              <a:gd name="connsiteY8" fmla="*/ 6003320 h 6003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003320">
                <a:moveTo>
                  <a:pt x="0" y="0"/>
                </a:moveTo>
                <a:lnTo>
                  <a:pt x="9962896" y="0"/>
                </a:lnTo>
                <a:lnTo>
                  <a:pt x="10782780" y="0"/>
                </a:lnTo>
                <a:lnTo>
                  <a:pt x="12192000" y="0"/>
                </a:lnTo>
                <a:lnTo>
                  <a:pt x="12192000" y="1409220"/>
                </a:lnTo>
                <a:lnTo>
                  <a:pt x="12192000" y="1869970"/>
                </a:lnTo>
                <a:lnTo>
                  <a:pt x="12192000" y="4594101"/>
                </a:lnTo>
                <a:cubicBezTo>
                  <a:pt x="12192000" y="5372391"/>
                  <a:pt x="11561071" y="6003320"/>
                  <a:pt x="10782780" y="6003320"/>
                </a:cubicBezTo>
                <a:lnTo>
                  <a:pt x="0" y="600332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489585" y="1472565"/>
            <a:ext cx="6590665" cy="13919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4000" b="1" spc="300" dirty="0">
                <a:solidFill>
                  <a:schemeClr val="bg1"/>
                </a:solidFill>
                <a:latin typeface="+mj-ea"/>
                <a:ea typeface="+mj-ea"/>
              </a:rPr>
              <a:t>Thank You</a:t>
            </a:r>
            <a:endParaRPr lang="en-US" altLang="zh-CN" sz="4000" b="1" spc="3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4000" b="1" spc="300" dirty="0">
                <a:solidFill>
                  <a:schemeClr val="bg1"/>
                </a:solidFill>
                <a:latin typeface="+mj-ea"/>
                <a:ea typeface="+mj-ea"/>
              </a:rPr>
              <a:t>For your attention!</a:t>
            </a:r>
            <a:endParaRPr lang="en-US" altLang="zh-CN" sz="40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9" name="student-woman_56914"/>
          <p:cNvSpPr/>
          <p:nvPr/>
        </p:nvSpPr>
        <p:spPr>
          <a:xfrm>
            <a:off x="1164461" y="5897098"/>
            <a:ext cx="288655" cy="167084"/>
          </a:xfrm>
          <a:custGeom>
            <a:avLst/>
            <a:gdLst>
              <a:gd name="connsiteX0" fmla="*/ 122643 w 608203"/>
              <a:gd name="connsiteY0" fmla="*/ 180930 h 352051"/>
              <a:gd name="connsiteX1" fmla="*/ 304144 w 608203"/>
              <a:gd name="connsiteY1" fmla="*/ 236743 h 352051"/>
              <a:gd name="connsiteX2" fmla="*/ 485587 w 608203"/>
              <a:gd name="connsiteY2" fmla="*/ 180930 h 352051"/>
              <a:gd name="connsiteX3" fmla="*/ 485587 w 608203"/>
              <a:gd name="connsiteY3" fmla="*/ 273108 h 352051"/>
              <a:gd name="connsiteX4" fmla="*/ 485702 w 608203"/>
              <a:gd name="connsiteY4" fmla="*/ 274086 h 352051"/>
              <a:gd name="connsiteX5" fmla="*/ 304201 w 608203"/>
              <a:gd name="connsiteY5" fmla="*/ 352051 h 352051"/>
              <a:gd name="connsiteX6" fmla="*/ 122643 w 608203"/>
              <a:gd name="connsiteY6" fmla="*/ 274086 h 352051"/>
              <a:gd name="connsiteX7" fmla="*/ 122643 w 608203"/>
              <a:gd name="connsiteY7" fmla="*/ 235822 h 352051"/>
              <a:gd name="connsiteX8" fmla="*/ 304130 w 608203"/>
              <a:gd name="connsiteY8" fmla="*/ 0 h 352051"/>
              <a:gd name="connsiteX9" fmla="*/ 608203 w 608203"/>
              <a:gd name="connsiteY9" fmla="*/ 116841 h 352051"/>
              <a:gd name="connsiteX10" fmla="*/ 485548 w 608203"/>
              <a:gd name="connsiteY10" fmla="*/ 160621 h 352051"/>
              <a:gd name="connsiteX11" fmla="*/ 304130 w 608203"/>
              <a:gd name="connsiteY11" fmla="*/ 216424 h 352051"/>
              <a:gd name="connsiteX12" fmla="*/ 122655 w 608203"/>
              <a:gd name="connsiteY12" fmla="*/ 160621 h 352051"/>
              <a:gd name="connsiteX13" fmla="*/ 107906 w 608203"/>
              <a:gd name="connsiteY13" fmla="*/ 155386 h 352051"/>
              <a:gd name="connsiteX14" fmla="*/ 139823 w 608203"/>
              <a:gd name="connsiteY14" fmla="*/ 144973 h 352051"/>
              <a:gd name="connsiteX15" fmla="*/ 142876 w 608203"/>
              <a:gd name="connsiteY15" fmla="*/ 137552 h 352051"/>
              <a:gd name="connsiteX16" fmla="*/ 100013 w 608203"/>
              <a:gd name="connsiteY16" fmla="*/ 147216 h 352051"/>
              <a:gd name="connsiteX17" fmla="*/ 100013 w 608203"/>
              <a:gd name="connsiteY17" fmla="*/ 157917 h 352051"/>
              <a:gd name="connsiteX18" fmla="*/ 92351 w 608203"/>
              <a:gd name="connsiteY18" fmla="*/ 286781 h 352051"/>
              <a:gd name="connsiteX19" fmla="*/ 34740 w 608203"/>
              <a:gd name="connsiteY19" fmla="*/ 286781 h 352051"/>
              <a:gd name="connsiteX20" fmla="*/ 74146 w 608203"/>
              <a:gd name="connsiteY20" fmla="*/ 143304 h 352051"/>
              <a:gd name="connsiteX21" fmla="*/ 77142 w 608203"/>
              <a:gd name="connsiteY21" fmla="*/ 134503 h 352051"/>
              <a:gd name="connsiteX22" fmla="*/ 97536 w 608203"/>
              <a:gd name="connsiteY22" fmla="*/ 129670 h 352051"/>
              <a:gd name="connsiteX23" fmla="*/ 94137 w 608203"/>
              <a:gd name="connsiteY23" fmla="*/ 126161 h 352051"/>
              <a:gd name="connsiteX24" fmla="*/ 70343 w 608203"/>
              <a:gd name="connsiteY24" fmla="*/ 128174 h 352051"/>
              <a:gd name="connsiteX25" fmla="*/ 64813 w 608203"/>
              <a:gd name="connsiteY25" fmla="*/ 139968 h 352051"/>
              <a:gd name="connsiteX26" fmla="*/ 0 w 608203"/>
              <a:gd name="connsiteY26" fmla="*/ 116841 h 3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8203" h="352051">
                <a:moveTo>
                  <a:pt x="122643" y="180930"/>
                </a:moveTo>
                <a:lnTo>
                  <a:pt x="304144" y="236743"/>
                </a:lnTo>
                <a:lnTo>
                  <a:pt x="485587" y="180930"/>
                </a:lnTo>
                <a:lnTo>
                  <a:pt x="485587" y="273108"/>
                </a:lnTo>
                <a:cubicBezTo>
                  <a:pt x="485587" y="273395"/>
                  <a:pt x="485702" y="273740"/>
                  <a:pt x="485702" y="274086"/>
                </a:cubicBezTo>
                <a:cubicBezTo>
                  <a:pt x="485702" y="317182"/>
                  <a:pt x="404401" y="352051"/>
                  <a:pt x="304201" y="352051"/>
                </a:cubicBezTo>
                <a:cubicBezTo>
                  <a:pt x="203944" y="352051"/>
                  <a:pt x="122643" y="317182"/>
                  <a:pt x="122643" y="274086"/>
                </a:cubicBezTo>
                <a:lnTo>
                  <a:pt x="122643" y="235822"/>
                </a:lnTo>
                <a:close/>
                <a:moveTo>
                  <a:pt x="304130" y="0"/>
                </a:moveTo>
                <a:lnTo>
                  <a:pt x="608203" y="116841"/>
                </a:lnTo>
                <a:lnTo>
                  <a:pt x="485548" y="160621"/>
                </a:lnTo>
                <a:lnTo>
                  <a:pt x="304130" y="216424"/>
                </a:lnTo>
                <a:lnTo>
                  <a:pt x="122655" y="160621"/>
                </a:lnTo>
                <a:lnTo>
                  <a:pt x="107906" y="155386"/>
                </a:lnTo>
                <a:lnTo>
                  <a:pt x="139823" y="144973"/>
                </a:lnTo>
                <a:lnTo>
                  <a:pt x="142876" y="137552"/>
                </a:lnTo>
                <a:lnTo>
                  <a:pt x="100013" y="147216"/>
                </a:lnTo>
                <a:lnTo>
                  <a:pt x="100013" y="157917"/>
                </a:lnTo>
                <a:lnTo>
                  <a:pt x="92351" y="286781"/>
                </a:lnTo>
                <a:cubicBezTo>
                  <a:pt x="63545" y="303925"/>
                  <a:pt x="34740" y="286781"/>
                  <a:pt x="34740" y="286781"/>
                </a:cubicBezTo>
                <a:cubicBezTo>
                  <a:pt x="27999" y="239665"/>
                  <a:pt x="74146" y="143304"/>
                  <a:pt x="74146" y="143304"/>
                </a:cubicBezTo>
                <a:lnTo>
                  <a:pt x="77142" y="134503"/>
                </a:lnTo>
                <a:lnTo>
                  <a:pt x="97536" y="129670"/>
                </a:lnTo>
                <a:lnTo>
                  <a:pt x="94137" y="126161"/>
                </a:lnTo>
                <a:lnTo>
                  <a:pt x="70343" y="128174"/>
                </a:lnTo>
                <a:lnTo>
                  <a:pt x="64813" y="139968"/>
                </a:lnTo>
                <a:lnTo>
                  <a:pt x="0" y="1168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0" name="文本框 119"/>
          <p:cNvSpPr txBox="1"/>
          <p:nvPr/>
        </p:nvSpPr>
        <p:spPr>
          <a:xfrm>
            <a:off x="1516594" y="5795974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答辩人：张珂睿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9" name="teacher-reading-a-book-sitting-behind-his-desk_42916"/>
          <p:cNvSpPr/>
          <p:nvPr/>
        </p:nvSpPr>
        <p:spPr>
          <a:xfrm>
            <a:off x="8609647" y="5853199"/>
            <a:ext cx="254929" cy="254882"/>
          </a:xfrm>
          <a:custGeom>
            <a:avLst/>
            <a:gdLst>
              <a:gd name="T0" fmla="*/ 5601 w 11203"/>
              <a:gd name="T1" fmla="*/ 0 h 11202"/>
              <a:gd name="T2" fmla="*/ 0 w 11203"/>
              <a:gd name="T3" fmla="*/ 5601 h 11202"/>
              <a:gd name="T4" fmla="*/ 5603 w 11203"/>
              <a:gd name="T5" fmla="*/ 11202 h 11202"/>
              <a:gd name="T6" fmla="*/ 11203 w 11203"/>
              <a:gd name="T7" fmla="*/ 5601 h 11202"/>
              <a:gd name="T8" fmla="*/ 5601 w 11203"/>
              <a:gd name="T9" fmla="*/ 0 h 11202"/>
              <a:gd name="T10" fmla="*/ 8403 w 11203"/>
              <a:gd name="T11" fmla="*/ 6218 h 11202"/>
              <a:gd name="T12" fmla="*/ 5429 w 11203"/>
              <a:gd name="T13" fmla="*/ 6218 h 11202"/>
              <a:gd name="T14" fmla="*/ 5250 w 11203"/>
              <a:gd name="T15" fmla="*/ 6182 h 11202"/>
              <a:gd name="T16" fmla="*/ 4970 w 11203"/>
              <a:gd name="T17" fmla="*/ 5760 h 11202"/>
              <a:gd name="T18" fmla="*/ 4970 w 11203"/>
              <a:gd name="T19" fmla="*/ 2786 h 11202"/>
              <a:gd name="T20" fmla="*/ 5429 w 11203"/>
              <a:gd name="T21" fmla="*/ 2327 h 11202"/>
              <a:gd name="T22" fmla="*/ 5889 w 11203"/>
              <a:gd name="T23" fmla="*/ 2786 h 11202"/>
              <a:gd name="T24" fmla="*/ 5889 w 11203"/>
              <a:gd name="T25" fmla="*/ 5301 h 11202"/>
              <a:gd name="T26" fmla="*/ 8404 w 11203"/>
              <a:gd name="T27" fmla="*/ 5301 h 11202"/>
              <a:gd name="T28" fmla="*/ 8863 w 11203"/>
              <a:gd name="T29" fmla="*/ 5760 h 11202"/>
              <a:gd name="T30" fmla="*/ 8403 w 11203"/>
              <a:gd name="T31" fmla="*/ 6218 h 11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1203" h="11202">
                <a:moveTo>
                  <a:pt x="5601" y="0"/>
                </a:moveTo>
                <a:cubicBezTo>
                  <a:pt x="2507" y="0"/>
                  <a:pt x="0" y="2507"/>
                  <a:pt x="0" y="5601"/>
                </a:cubicBezTo>
                <a:cubicBezTo>
                  <a:pt x="0" y="8695"/>
                  <a:pt x="2509" y="11202"/>
                  <a:pt x="5603" y="11202"/>
                </a:cubicBezTo>
                <a:cubicBezTo>
                  <a:pt x="8695" y="11202"/>
                  <a:pt x="11203" y="8695"/>
                  <a:pt x="11203" y="5601"/>
                </a:cubicBezTo>
                <a:cubicBezTo>
                  <a:pt x="11203" y="2507"/>
                  <a:pt x="8695" y="0"/>
                  <a:pt x="5601" y="0"/>
                </a:cubicBezTo>
                <a:close/>
                <a:moveTo>
                  <a:pt x="8403" y="6218"/>
                </a:moveTo>
                <a:lnTo>
                  <a:pt x="5429" y="6218"/>
                </a:lnTo>
                <a:cubicBezTo>
                  <a:pt x="5366" y="6218"/>
                  <a:pt x="5305" y="6206"/>
                  <a:pt x="5250" y="6182"/>
                </a:cubicBezTo>
                <a:cubicBezTo>
                  <a:pt x="5085" y="6112"/>
                  <a:pt x="4970" y="5950"/>
                  <a:pt x="4970" y="5760"/>
                </a:cubicBezTo>
                <a:lnTo>
                  <a:pt x="4970" y="2786"/>
                </a:lnTo>
                <a:cubicBezTo>
                  <a:pt x="4970" y="2532"/>
                  <a:pt x="5175" y="2327"/>
                  <a:pt x="5429" y="2327"/>
                </a:cubicBezTo>
                <a:cubicBezTo>
                  <a:pt x="5683" y="2327"/>
                  <a:pt x="5889" y="2532"/>
                  <a:pt x="5889" y="2786"/>
                </a:cubicBezTo>
                <a:lnTo>
                  <a:pt x="5889" y="5301"/>
                </a:lnTo>
                <a:lnTo>
                  <a:pt x="8404" y="5301"/>
                </a:lnTo>
                <a:cubicBezTo>
                  <a:pt x="8657" y="5301"/>
                  <a:pt x="8863" y="5506"/>
                  <a:pt x="8863" y="5760"/>
                </a:cubicBezTo>
                <a:cubicBezTo>
                  <a:pt x="8863" y="6013"/>
                  <a:pt x="8656" y="6218"/>
                  <a:pt x="8403" y="62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8" name="文本框 127"/>
          <p:cNvSpPr txBox="1"/>
          <p:nvPr/>
        </p:nvSpPr>
        <p:spPr>
          <a:xfrm>
            <a:off x="8944918" y="5795974"/>
            <a:ext cx="18224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日期：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2026/04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388455" y="315652"/>
            <a:ext cx="423862" cy="405200"/>
            <a:chOff x="11388455" y="315652"/>
            <a:chExt cx="423862" cy="405200"/>
          </a:xfrm>
        </p:grpSpPr>
        <p:sp>
          <p:nvSpPr>
            <p:cNvPr id="3" name="矩形 2"/>
            <p:cNvSpPr/>
            <p:nvPr/>
          </p:nvSpPr>
          <p:spPr>
            <a:xfrm>
              <a:off x="11388455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1543236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1698017" y="3156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388455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1543236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1698017" y="46110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11388455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11543236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11698017" y="606552"/>
              <a:ext cx="114300" cy="11430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89585" y="3615690"/>
            <a:ext cx="733044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GitHub: https://github.com/Oliviazkr/nutrition_calculator</a:t>
            </a:r>
            <a:endParaRPr lang="en-US" altLang="zh-CN" sz="2000" b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9,&quot;left&quot;:119.4168503937008,&quot;top&quot;:456.375905511811,&quot;width&quot;:578.5812598425197}"/>
</p:tagLst>
</file>

<file path=ppt/tags/tag2.xml><?xml version="1.0" encoding="utf-8"?>
<p:tagLst xmlns:p="http://schemas.openxmlformats.org/presentationml/2006/main">
  <p:tag name="KSO_WM_DIAGRAM_VIRTUALLY_FRAME" val="{&quot;height&quot;:29,&quot;left&quot;:119.4168503937008,&quot;top&quot;:456.375905511811,&quot;width&quot;:578.5812598425197}"/>
</p:tagLst>
</file>

<file path=ppt/tags/tag3.xml><?xml version="1.0" encoding="utf-8"?>
<p:tagLst xmlns:p="http://schemas.openxmlformats.org/presentationml/2006/main">
  <p:tag name="ISLIDE.ICON" val="#379828;"/>
  <p:tag name="ISLIDE.VECTOR" val="#431516;"/>
</p:tagLst>
</file>

<file path=ppt/tags/tag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6.xml><?xml version="1.0" encoding="utf-8"?>
<p:tagLst xmlns:p="http://schemas.openxmlformats.org/presentationml/2006/main">
  <p:tag name="ISLIDE.ICON" val="#379828;"/>
</p:tagLst>
</file>

<file path=ppt/tags/tag1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1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29.xml><?xml version="1.0" encoding="utf-8"?>
<p:tagLst xmlns:p="http://schemas.openxmlformats.org/presentationml/2006/main">
  <p:tag name="ISLIDE.ICON" val="#379828;"/>
</p:tagLst>
</file>

<file path=ppt/tags/tag30.xml><?xml version="1.0" encoding="utf-8"?>
<p:tagLst xmlns:p="http://schemas.openxmlformats.org/presentationml/2006/main">
  <p:tag name="ISLIDE.ICON" val="#379828;"/>
</p:tagLst>
</file>

<file path=ppt/tags/tag3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3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4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4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4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43.xml><?xml version="1.0" encoding="utf-8"?>
<p:tagLst xmlns:p="http://schemas.openxmlformats.org/presentationml/2006/main">
  <p:tag name="ISLIDE.ICON" val="#379828;"/>
</p:tagLst>
</file>

<file path=ppt/tags/tag44.xml><?xml version="1.0" encoding="utf-8"?>
<p:tagLst xmlns:p="http://schemas.openxmlformats.org/presentationml/2006/main">
  <p:tag name="KSO_WM_DIAGRAM_VIRTUALLY_FRAME" val="{&quot;height&quot;:339.99070866141733,&quot;left&quot;:635.4455118110236,&quot;top&quot;:137.74401574803147,&quot;width&quot;:281.63157480314965}"/>
</p:tagLst>
</file>

<file path=ppt/tags/tag45.xml><?xml version="1.0" encoding="utf-8"?>
<p:tagLst xmlns:p="http://schemas.openxmlformats.org/presentationml/2006/main">
  <p:tag name="ISLIDE.ICON" val="#379828;"/>
</p:tagLst>
</file>

<file path=ppt/tags/tag46.xml><?xml version="1.0" encoding="utf-8"?>
<p:tagLst xmlns:p="http://schemas.openxmlformats.org/presentationml/2006/main">
  <p:tag name="KSO_WM_DIAGRAM_VIRTUALLY_FRAME" val="{&quot;height&quot;:339.99070866141733,&quot;left&quot;:635.4455118110236,&quot;top&quot;:137.74401574803147,&quot;width&quot;:281.63157480314965}"/>
</p:tagLst>
</file>

<file path=ppt/tags/tag47.xml><?xml version="1.0" encoding="utf-8"?>
<p:tagLst xmlns:p="http://schemas.openxmlformats.org/presentationml/2006/main">
  <p:tag name="ISLIDE.ICON" val="#379828;"/>
</p:tagLst>
</file>

<file path=ppt/tags/tag48.xml><?xml version="1.0" encoding="utf-8"?>
<p:tagLst xmlns:p="http://schemas.openxmlformats.org/presentationml/2006/main">
  <p:tag name="KSO_WM_DIAGRAM_VIRTUALLY_FRAME" val="{&quot;height&quot;:339.99070866141733,&quot;left&quot;:635.4455118110236,&quot;top&quot;:137.74401574803147,&quot;width&quot;:281.63157480314965}"/>
</p:tagLst>
</file>

<file path=ppt/tags/tag49.xml><?xml version="1.0" encoding="utf-8"?>
<p:tagLst xmlns:p="http://schemas.openxmlformats.org/presentationml/2006/main">
  <p:tag name="ISLIDE.ICON" val="#379828;"/>
</p:tagLst>
</file>

<file path=ppt/tags/tag50.xml><?xml version="1.0" encoding="utf-8"?>
<p:tagLst xmlns:p="http://schemas.openxmlformats.org/presentationml/2006/main">
  <p:tag name="ISLIDE.ICON" val="#379828;"/>
</p:tagLst>
</file>

<file path=ppt/tags/tag51.xml><?xml version="1.0" encoding="utf-8"?>
<p:tagLst xmlns:p="http://schemas.openxmlformats.org/presentationml/2006/main">
  <p:tag name="ISLIDE.ICON" val="#379828;"/>
</p:tagLst>
</file>

<file path=ppt/tags/tag52.xml><?xml version="1.0" encoding="utf-8"?>
<p:tagLst xmlns:p="http://schemas.openxmlformats.org/presentationml/2006/main">
  <p:tag name="ISLIDE.ICON" val="#379828;"/>
</p:tagLst>
</file>

<file path=ppt/tags/tag53.xml><?xml version="1.0" encoding="utf-8"?>
<p:tagLst xmlns:p="http://schemas.openxmlformats.org/presentationml/2006/main">
  <p:tag name="ISLIDE.ICON" val="#379828;"/>
</p:tagLst>
</file>

<file path=ppt/tags/tag5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5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66.xml><?xml version="1.0" encoding="utf-8"?>
<p:tagLst xmlns:p="http://schemas.openxmlformats.org/presentationml/2006/main">
  <p:tag name="ISLIDE.ICON" val="#379828;"/>
</p:tagLst>
</file>

<file path=ppt/tags/tag67.xml><?xml version="1.0" encoding="utf-8"?>
<p:tagLst xmlns:p="http://schemas.openxmlformats.org/presentationml/2006/main">
  <p:tag name="ISLIDE.ICON" val="#379828;"/>
</p:tagLst>
</file>

<file path=ppt/tags/tag68.xml><?xml version="1.0" encoding="utf-8"?>
<p:tagLst xmlns:p="http://schemas.openxmlformats.org/presentationml/2006/main">
  <p:tag name="KSO_WM_DIAGRAM_VIRTUALLY_FRAME" val="{&quot;height&quot;:362.1,&quot;left&quot;:673.2408661417321,&quot;top&quot;:46.910393700787424,&quot;width&quot;:274.7591338582679}"/>
</p:tagLst>
</file>

<file path=ppt/tags/tag69.xml><?xml version="1.0" encoding="utf-8"?>
<p:tagLst xmlns:p="http://schemas.openxmlformats.org/presentationml/2006/main">
  <p:tag name="ISLIDE.ICON" val="#379828;"/>
</p:tagLst>
</file>

<file path=ppt/tags/tag7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2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3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4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5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6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7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8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79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80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81.xml><?xml version="1.0" encoding="utf-8"?>
<p:tagLst xmlns:p="http://schemas.openxmlformats.org/presentationml/2006/main">
  <p:tag name="KSO_WM_DIAGRAM_VIRTUALLY_FRAME" val="{&quot;height&quot;:378.05,&quot;left&quot;:424.21740157480315,&quot;top&quot;:85.73944881889763,&quot;width&quot;:565.2580314960632}"/>
</p:tagLst>
</file>

<file path=ppt/tags/tag82.xml><?xml version="1.0" encoding="utf-8"?>
<p:tagLst xmlns:p="http://schemas.openxmlformats.org/presentationml/2006/main">
  <p:tag name="ISLIDE.ICON" val="#379828;"/>
</p:tagLst>
</file>

<file path=ppt/tags/tag83.xml><?xml version="1.0" encoding="utf-8"?>
<p:tagLst xmlns:p="http://schemas.openxmlformats.org/presentationml/2006/main">
  <p:tag name="ISLIDE.ICON" val="#379828;"/>
  <p:tag name="resource_record_key" val="{&quot;29&quot;:[50053024]}"/>
</p:tagLst>
</file>

<file path=ppt/tags/tag84.xml><?xml version="1.0" encoding="utf-8"?>
<p:tagLst xmlns:p="http://schemas.openxmlformats.org/presentationml/2006/main">
  <p:tag name="ISLIDE.ICON" val="#379828;"/>
  <p:tag name="resource_record_key" val="{&quot;29&quot;:[50053024]}"/>
</p:tagLst>
</file>

<file path=ppt/tags/tag85.xml><?xml version="1.0" encoding="utf-8"?>
<p:tagLst xmlns:p="http://schemas.openxmlformats.org/presentationml/2006/main">
  <p:tag name="ISLIDE.ICON" val="#379828;"/>
  <p:tag name="ISLIDE.VECTOR" val="#431516;#431587;"/>
</p:tagLst>
</file>

<file path=ppt/tags/tag86.xml><?xml version="1.0" encoding="utf-8"?>
<p:tagLst xmlns:p="http://schemas.openxmlformats.org/presentationml/2006/main">
  <p:tag name="commondata" val="eyJoZGlkIjoiMjRkMzNkNzdiZDJjODQ4MDU4ZTVmZjg1YjhlMDUwNGEifQ=="/>
  <p:tag name="resource_record_key" val="{&quot;29&quot;:[50053024]}"/>
</p:tagLst>
</file>

<file path=ppt/theme/theme1.xml><?xml version="1.0" encoding="utf-8"?>
<a:theme xmlns:a="http://schemas.openxmlformats.org/drawingml/2006/main" name="Office 主题​​">
  <a:themeElements>
    <a:clrScheme name="北大红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001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11F35"/>
      </a:dk2>
      <a:lt2>
        <a:srgbClr val="F5F8FC"/>
      </a:lt2>
      <a:accent1>
        <a:srgbClr val="1F3861"/>
      </a:accent1>
      <a:accent2>
        <a:srgbClr val="3C547B"/>
      </a:accent2>
      <a:accent3>
        <a:srgbClr val="597096"/>
      </a:accent3>
      <a:accent4>
        <a:srgbClr val="778DB0"/>
      </a:accent4>
      <a:accent5>
        <a:srgbClr val="94A9CB"/>
      </a:accent5>
      <a:accent6>
        <a:srgbClr val="B2C6E6"/>
      </a:accent6>
      <a:hlink>
        <a:srgbClr val="0026E5"/>
      </a:hlink>
      <a:folHlink>
        <a:srgbClr val="7E1FA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3419</Words>
  <Application>WPS 演示</Application>
  <PresentationFormat>宽屏</PresentationFormat>
  <Paragraphs>381</Paragraphs>
  <Slides>19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Impact</vt:lpstr>
      <vt:lpstr>微软雅黑 Light</vt:lpstr>
      <vt:lpstr>Arial Unicode MS</vt:lpstr>
      <vt:lpstr>等线</vt:lpstr>
      <vt:lpstr>quote-cjk-patch</vt:lpstr>
      <vt:lpstr>FFont-Family</vt:lpstr>
      <vt:lpstr>menlo</vt:lpstr>
      <vt:lpstr>Wingdings</vt:lpstr>
      <vt:lpstr>黑体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汉顺</dc:creator>
  <cp:lastModifiedBy>花开富贵</cp:lastModifiedBy>
  <cp:revision>42</cp:revision>
  <dcterms:created xsi:type="dcterms:W3CDTF">2023-06-23T05:54:00Z</dcterms:created>
  <dcterms:modified xsi:type="dcterms:W3CDTF">2026-04-21T08:16:52Z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C4295C0AA6444F3B9BBB775304BBD437_13</vt:lpwstr>
  </property>
  <property fmtid="{D5CDD505-2E9C-101B-9397-08002B2CF9AE}" pid="3" name="KSOProductBuildVer">
    <vt:lpwstr>2052-12.1.0.25225</vt:lpwstr>
  </property>
</Properties>
</file>